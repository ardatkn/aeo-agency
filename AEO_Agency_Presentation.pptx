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20116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73E8"/>
                </a:solidFill>
              </a:defRPr>
            </a:pPr>
            <a:r>
              <a:t>COURSE ASSIGNMENT: AUTONOMOUS AI AGENCY</a:t>
            </a:r>
          </a:p>
          <a:p>
            <a:pPr>
              <a:spcBef>
                <a:spcPts val="1000"/>
              </a:spcBef>
              <a:defRPr sz="4400" b="1">
                <a:solidFill>
                  <a:srgbClr val="212529"/>
                </a:solidFill>
              </a:defRPr>
            </a:pPr>
            <a:r>
              <a:t>Autonomous AEO Agency</a:t>
            </a:r>
          </a:p>
          <a:p>
            <a:pPr>
              <a:spcBef>
                <a:spcPts val="800"/>
              </a:spcBef>
              <a:defRPr sz="2000">
                <a:solidFill>
                  <a:srgbClr val="6C757D"/>
                </a:solidFill>
              </a:defRPr>
            </a:pPr>
            <a:r>
              <a:t>Deploying an 8-Employee AI Team for Answer Engine Optimization</a:t>
            </a:r>
          </a:p>
          <a:p>
            <a:pPr>
              <a:spcBef>
                <a:spcPts val="2400"/>
              </a:spcBef>
              <a:defRPr sz="1400">
                <a:solidFill>
                  <a:srgbClr val="6C757D"/>
                </a:solidFill>
              </a:defRPr>
            </a:pPr>
            <a:r>
              <a:t>Framework: ai-employees  |  Ledger: Google Sheets API  |  Orchestration: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</a:defRPr>
            </a:pPr>
            <a:r>
              <a:t>AEO VANGUARD AGENCY</a:t>
            </a:r>
          </a:p>
          <a:p>
            <a:pPr>
              <a:spcBef>
                <a:spcPts val="400"/>
              </a:spcBef>
              <a:defRPr sz="2800" b="1">
                <a:solidFill>
                  <a:srgbClr val="212529"/>
                </a:solidFill>
              </a:defRPr>
            </a:pPr>
            <a:r>
              <a:t>Step 1: Agency Type &amp; Core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12529"/>
                </a:solidFill>
              </a:defRPr>
            </a:pPr>
            <a:r>
              <a:t>•  The Shift from SEO to AEO: </a:t>
            </a:r>
            <a:r>
              <a:rPr b="0" sz="1500">
                <a:solidFill>
                  <a:srgbClr val="6C757D"/>
                </a:solidFill>
              </a:rPr>
              <a:t>Users no longer browse Google links; they ask ChatGPT, Perplexity, and Claude for direct recommendations.</a:t>
            </a:r>
          </a:p>
          <a:p>
            <a:pPr>
              <a:spcBef>
                <a:spcPts val="1400"/>
              </a:spcBef>
              <a:defRPr b="1" sz="1600">
                <a:solidFill>
                  <a:srgbClr val="212529"/>
                </a:solidFill>
              </a:defRPr>
            </a:pPr>
            <a:r>
              <a:t>•  The Core Problem: </a:t>
            </a:r>
            <a:r>
              <a:rPr b="0" sz="1500">
                <a:solidFill>
                  <a:srgbClr val="6C757D"/>
                </a:solidFill>
              </a:rPr>
              <a:t>If generative AI does not recommend our client, the client loses business before visitors even reach the website.</a:t>
            </a:r>
          </a:p>
          <a:p>
            <a:pPr>
              <a:spcBef>
                <a:spcPts val="1400"/>
              </a:spcBef>
              <a:defRPr b="1" sz="1600">
                <a:solidFill>
                  <a:srgbClr val="212529"/>
                </a:solidFill>
              </a:defRPr>
            </a:pPr>
            <a:r>
              <a:t>•  Agency Mission: </a:t>
            </a:r>
            <a:r>
              <a:rPr b="0" sz="1500">
                <a:solidFill>
                  <a:srgbClr val="6C757D"/>
                </a:solidFill>
              </a:rPr>
              <a:t>Maximize brand recommendation rates and citation share across generative search engines.</a:t>
            </a:r>
          </a:p>
          <a:p>
            <a:pPr>
              <a:spcBef>
                <a:spcPts val="1400"/>
              </a:spcBef>
              <a:defRPr b="1" sz="1600">
                <a:solidFill>
                  <a:srgbClr val="212529"/>
                </a:solidFill>
              </a:defRPr>
            </a:pPr>
            <a:r>
              <a:t>•  Core Mechanics: </a:t>
            </a:r>
            <a:r>
              <a:rPr b="0" sz="1500">
                <a:solidFill>
                  <a:srgbClr val="6C757D"/>
                </a:solidFill>
              </a:rPr>
              <a:t>Run synthetic buyer queries across LLMs, reverse-engineer citation sources, and inject structured data (llms.txt, JSON-LD).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</a:defRPr>
            </a:pPr>
            <a:r>
              <a:t>AEO VANGUARD AGENCY</a:t>
            </a:r>
          </a:p>
          <a:p>
            <a:pPr>
              <a:spcBef>
                <a:spcPts val="400"/>
              </a:spcBef>
              <a:defRPr sz="2800" b="1">
                <a:solidFill>
                  <a:srgbClr val="212529"/>
                </a:solidFill>
              </a:defRPr>
            </a:pPr>
            <a:r>
              <a:t>Step 2: The 8-Employee Autonomous Team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926080"/>
                <a:gridCol w="6675120"/>
              </a:tblGrid>
              <a:tr h="5080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Role Name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Core Responsibility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Agent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Project Manager (Chief of Staff)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Audits 7 agents, updates Google Sheet ledger, issues contracts, sends daily brief.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Agent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Lead LLM Researcher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Executes synthetic prompt batteries on ChatGPT/Perplexity to map citation sources.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Agent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Knowledge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Authors high-density comparison tables, FAQ blocks, and standard llms.txt files.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Agent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SoM Performance 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Calculates Share of Model (SoM), audits brand sentiment, and flags hallucinations.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Agent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Consensus Builder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Coordinates distribution across authoritative feeder hubs (Reddit, GitHub, tech blogs).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Agent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Technical AEO Auditor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Generates Schema.org/JSON-LD, audits robots.txt, and fixes crawler access constraints.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Agent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Solution 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Synchronizes generated structured data with client CMS platforms (WordPress/Webflow).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212529"/>
                          </a:solidFill>
                        </a:defRPr>
                      </a:pPr>
                      <a:r>
                        <a:t>Agent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Outbound Growth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Scans target domains for zero AI visibility and sends automated AEO cold audit pitches.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</a:defRPr>
            </a:pPr>
            <a:r>
              <a:t>AEO VANGUARD AGENCY</a:t>
            </a:r>
          </a:p>
          <a:p>
            <a:pPr>
              <a:spcBef>
                <a:spcPts val="400"/>
              </a:spcBef>
              <a:defRPr sz="2800" b="1">
                <a:solidFill>
                  <a:srgbClr val="212529"/>
                </a:solidFill>
              </a:defRPr>
            </a:pPr>
            <a:r>
              <a:t>Step 2 (Cont.): End-to-End Operational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212529"/>
                </a:solidFill>
              </a:defRPr>
            </a:pPr>
            <a:r>
              <a:t>1. Prospect Acquisition (Agent 8): </a:t>
            </a:r>
            <a:r>
              <a:rPr b="0" sz="1400">
                <a:solidFill>
                  <a:srgbClr val="6C757D"/>
                </a:solidFill>
              </a:rPr>
              <a:t>Automated crawlers identify companies not recommended by ChatGPT; sends instant AEO audit reports.</a:t>
            </a:r>
          </a:p>
          <a:p>
            <a:pPr>
              <a:spcBef>
                <a:spcPts val="1400"/>
              </a:spcBef>
              <a:defRPr b="1" sz="1500">
                <a:solidFill>
                  <a:srgbClr val="212529"/>
                </a:solidFill>
              </a:defRPr>
            </a:pPr>
            <a:r>
              <a:t>2. Client Onboarding (Agent 1): </a:t>
            </a:r>
            <a:r>
              <a:rPr b="0" sz="1400">
                <a:solidFill>
                  <a:srgbClr val="6C757D"/>
                </a:solidFill>
              </a:rPr>
              <a:t>Project Manager ingests discovery responses, issues standardized AEO Retainer SOWs, and registers project.</a:t>
            </a:r>
          </a:p>
          <a:p>
            <a:pPr>
              <a:spcBef>
                <a:spcPts val="1400"/>
              </a:spcBef>
              <a:defRPr b="1" sz="1500">
                <a:solidFill>
                  <a:srgbClr val="212529"/>
                </a:solidFill>
              </a:defRPr>
            </a:pPr>
            <a:r>
              <a:t>3. Technical &amp; Content Execution (Agents 2, 6, 3, 5, 7): </a:t>
            </a:r>
            <a:r>
              <a:rPr b="0" sz="1400">
                <a:solidFill>
                  <a:srgbClr val="6C757D"/>
                </a:solidFill>
              </a:rPr>
              <a:t>Runs 250+ prompt tests, injects JSON-LD schema into client staging, publishes llms.txt, and builds forum consensus.</a:t>
            </a:r>
          </a:p>
          <a:p>
            <a:pPr>
              <a:spcBef>
                <a:spcPts val="1400"/>
              </a:spcBef>
              <a:defRPr b="1" sz="1500">
                <a:solidFill>
                  <a:srgbClr val="212529"/>
                </a:solidFill>
              </a:defRPr>
            </a:pPr>
            <a:r>
              <a:t>4. Quality &amp; Performance Verification (Agent 4): </a:t>
            </a:r>
            <a:r>
              <a:rPr b="0" sz="1400">
                <a:solidFill>
                  <a:srgbClr val="6C757D"/>
                </a:solidFill>
              </a:rPr>
              <a:t>Measures post-deployment Share of Model (0% -&gt; 34.2%) and confirms 0 model hallucinations.</a:t>
            </a:r>
          </a:p>
          <a:p>
            <a:pPr>
              <a:spcBef>
                <a:spcPts val="1400"/>
              </a:spcBef>
              <a:defRPr b="1" sz="1500">
                <a:solidFill>
                  <a:srgbClr val="212529"/>
                </a:solidFill>
              </a:defRPr>
            </a:pPr>
            <a:r>
              <a:t>5. Executive Reporting (Agent 1): </a:t>
            </a:r>
            <a:r>
              <a:rPr b="0" sz="1400">
                <a:solidFill>
                  <a:srgbClr val="6C757D"/>
                </a:solidFill>
              </a:rPr>
              <a:t>Appends immutable row to Google Sheet ledger and delivers scannable status bulletin to leadership inbox.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</a:defRPr>
            </a:pPr>
            <a:r>
              <a:t>AEO VANGUARD AGENCY</a:t>
            </a:r>
          </a:p>
          <a:p>
            <a:pPr>
              <a:spcBef>
                <a:spcPts val="400"/>
              </a:spcBef>
              <a:defRPr sz="2800" b="1">
                <a:solidFill>
                  <a:srgbClr val="212529"/>
                </a:solidFill>
              </a:defRPr>
            </a:pPr>
            <a:r>
              <a:t>Step 3: Project Manager Automation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12529"/>
                </a:solidFill>
              </a:defRPr>
            </a:pPr>
            <a:r>
              <a:t>•  Live Google Sheet Ledger Integration: </a:t>
            </a:r>
            <a:r>
              <a:rPr b="0" sz="1500">
                <a:solidFill>
                  <a:srgbClr val="6C757D"/>
                </a:solidFill>
              </a:rPr>
              <a:t>Configured columns: [Timestamp | Agent Name | Task Performed | Output Status]. Real-time webhook via Google Apps Script.</a:t>
            </a:r>
          </a:p>
          <a:p>
            <a:pPr>
              <a:spcBef>
                <a:spcPts val="1600"/>
              </a:spcBef>
              <a:defRPr b="1" sz="1600">
                <a:solidFill>
                  <a:srgbClr val="212529"/>
                </a:solidFill>
              </a:defRPr>
            </a:pPr>
            <a:r>
              <a:t>•  Automated Email Status Bulletin: </a:t>
            </a:r>
            <a:r>
              <a:rPr b="0" sz="1500">
                <a:solidFill>
                  <a:srgbClr val="6C757D"/>
                </a:solidFill>
              </a:rPr>
              <a:t>Project Manager parses completion tokens and dispatches an HTML status report directly to the leadership inbox at cycle end.</a:t>
            </a:r>
          </a:p>
          <a:p>
            <a:pPr>
              <a:spcBef>
                <a:spcPts val="1600"/>
              </a:spcBef>
              <a:defRPr b="1" sz="1600">
                <a:solidFill>
                  <a:srgbClr val="212529"/>
                </a:solidFill>
              </a:defRPr>
            </a:pPr>
            <a:r>
              <a:t>•  Scripted Automation Bridge: </a:t>
            </a:r>
            <a:r>
              <a:rPr b="0" sz="1500">
                <a:solidFill>
                  <a:srgbClr val="6C757D"/>
                </a:solidFill>
              </a:rPr>
              <a:t>All 8 agents run through a unified Python bridge (pm_bridge.py) with automated error handling and rate-limit buffering.</a:t>
            </a:r>
          </a:p>
          <a:p>
            <a:pPr>
              <a:spcBef>
                <a:spcPts val="1600"/>
              </a:spcBef>
              <a:defRPr b="1" sz="1600">
                <a:solidFill>
                  <a:srgbClr val="212529"/>
                </a:solidFill>
              </a:defRPr>
            </a:pPr>
            <a:r>
              <a:t>•  Configuration Standard: </a:t>
            </a:r>
            <a:r>
              <a:rPr b="0" sz="1500">
                <a:solidFill>
                  <a:srgbClr val="6C757D"/>
                </a:solidFill>
              </a:rPr>
              <a:t>Configured via .installed.json adhering to the ai-employees modular business worker standard.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A73E8"/>
                </a:solidFill>
              </a:defRPr>
            </a:pPr>
            <a:r>
              <a:t>AEO VANGUARD AGENCY</a:t>
            </a:r>
          </a:p>
          <a:p>
            <a:pPr>
              <a:spcBef>
                <a:spcPts val="400"/>
              </a:spcBef>
              <a:defRPr sz="2800" b="1">
                <a:solidFill>
                  <a:srgbClr val="212529"/>
                </a:solidFill>
              </a:defRPr>
            </a:pPr>
            <a:r>
              <a:t>Project Deliverables &amp; 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600">
                <a:solidFill>
                  <a:srgbClr val="212529"/>
                </a:solidFill>
              </a:defRPr>
            </a:pPr>
            <a:r>
              <a:t>•  GitHub Repository: </a:t>
            </a:r>
            <a:r>
              <a:rPr b="1" sz="1400">
                <a:solidFill>
                  <a:srgbClr val="1A73E8"/>
                </a:solidFill>
              </a:rPr>
              <a:t>https://github.com/ArdaTkn/aeo-agency
   </a:t>
            </a:r>
            <a:r>
              <a:rPr b="0" sz="1400">
                <a:solidFill>
                  <a:srgbClr val="6C757D"/>
                </a:solidFill>
              </a:rPr>
              <a:t>Contains .installed.json, pm_bridge.py, and full documentation.</a:t>
            </a:r>
          </a:p>
          <a:p>
            <a:pPr>
              <a:spcBef>
                <a:spcPts val="1600"/>
              </a:spcBef>
              <a:defRPr b="1" sz="1600">
                <a:solidFill>
                  <a:srgbClr val="212529"/>
                </a:solidFill>
              </a:defRPr>
            </a:pPr>
            <a:r>
              <a:t>•  Live Google Sheet Ledger: </a:t>
            </a:r>
            <a:r>
              <a:rPr b="1" sz="1400">
                <a:solidFill>
                  <a:srgbClr val="1A73E8"/>
                </a:solidFill>
              </a:rPr>
              <a:t>https://docs.google.com/spreadsheets/d/1gg-cqQ1Fctq1Cmq1PFBdkBdMntjxho6NtMOg9IJhk2E
   </a:t>
            </a:r>
            <a:r>
              <a:rPr b="0" sz="1400">
                <a:solidFill>
                  <a:srgbClr val="6C757D"/>
                </a:solidFill>
              </a:rPr>
              <a:t>Real-time updated activity ledger with all 8 employee execution logs.</a:t>
            </a:r>
          </a:p>
          <a:p>
            <a:pPr>
              <a:spcBef>
                <a:spcPts val="1600"/>
              </a:spcBef>
              <a:defRPr b="1" sz="1600">
                <a:solidFill>
                  <a:srgbClr val="212529"/>
                </a:solidFill>
              </a:defRPr>
            </a:pPr>
            <a:r>
              <a:t>•  Email Bulletin Verification: </a:t>
            </a:r>
            <a:r>
              <a:rPr b="1" sz="1400">
                <a:solidFill>
                  <a:srgbClr val="1A73E8"/>
                </a:solidFill>
              </a:rPr>
              <a:t>Received in inbox
   </a:t>
            </a:r>
            <a:r>
              <a:rPr b="0" sz="1400">
                <a:solidFill>
                  <a:srgbClr val="6C757D"/>
                </a:solidFill>
              </a:rPr>
              <a:t>Automated executive status summary with table formatting and direct sheet links.</a:t>
            </a:r>
          </a:p>
          <a:p>
            <a:pPr>
              <a:spcBef>
                <a:spcPts val="1600"/>
              </a:spcBef>
              <a:defRPr b="1" sz="1600">
                <a:solidFill>
                  <a:srgbClr val="212529"/>
                </a:solidFill>
              </a:defRPr>
            </a:pPr>
            <a:r>
              <a:t>•  Execution Result: </a:t>
            </a:r>
            <a:r>
              <a:rPr b="1" sz="1400">
                <a:solidFill>
                  <a:srgbClr val="1A73E8"/>
                </a:solidFill>
              </a:rPr>
              <a:t>100% Autonomous Success
   </a:t>
            </a:r>
            <a:r>
              <a:rPr b="0" sz="1400">
                <a:solidFill>
                  <a:srgbClr val="6C757D"/>
                </a:solidFill>
              </a:rPr>
              <a:t>All 8 agents executed sequentially and logged without human intervention.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